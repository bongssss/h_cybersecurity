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Muli" pitchFamily="2" charset="77"/>
      <p:regular r:id="rId33"/>
    </p:embeddedFont>
    <p:embeddedFont>
      <p:font typeface="Muli Bold" pitchFamily="2" charset="77"/>
      <p:regular r:id="rId34"/>
      <p:bold r:id="rId35"/>
    </p:embeddedFont>
    <p:embeddedFont>
      <p:font typeface="Muli Bold Italics" pitchFamily="2" charset="77"/>
      <p:regular r:id="rId36"/>
      <p:bold r:id="rId37"/>
      <p:italic r:id="rId38"/>
      <p:boldItalic r:id="rId39"/>
    </p:embeddedFont>
    <p:embeddedFont>
      <p:font typeface="The Seasons Bold" pitchFamily="2" charset="77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13" autoAdjust="0"/>
    <p:restoredTop sz="94599" autoAdjust="0"/>
  </p:normalViewPr>
  <p:slideViewPr>
    <p:cSldViewPr>
      <p:cViewPr>
        <p:scale>
          <a:sx n="37" d="100"/>
          <a:sy n="37" d="100"/>
        </p:scale>
        <p:origin x="-144" y="1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owasptop102021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7894" y="8895627"/>
            <a:ext cx="15312212" cy="25859"/>
          </a:xfrm>
          <a:prstGeom prst="rect">
            <a:avLst/>
          </a:prstGeom>
          <a:solidFill>
            <a:srgbClr val="201F1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818268" y="3253222"/>
            <a:ext cx="7907670" cy="2339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6"/>
              </a:lnSpc>
            </a:pPr>
            <a:r>
              <a:rPr lang="en-US" sz="8246" b="1">
                <a:solidFill>
                  <a:srgbClr val="201F1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HackTales Red Team Internship</a:t>
            </a:r>
          </a:p>
        </p:txBody>
      </p:sp>
      <p:sp>
        <p:nvSpPr>
          <p:cNvPr id="4" name="Freeform 4"/>
          <p:cNvSpPr/>
          <p:nvPr/>
        </p:nvSpPr>
        <p:spPr>
          <a:xfrm>
            <a:off x="7718909" y="9215527"/>
            <a:ext cx="1791395" cy="356903"/>
          </a:xfrm>
          <a:custGeom>
            <a:avLst/>
            <a:gdLst/>
            <a:ahLst/>
            <a:cxnLst/>
            <a:rect l="l" t="t" r="r" b="b"/>
            <a:pathLst>
              <a:path w="1791395" h="356903">
                <a:moveTo>
                  <a:pt x="0" y="0"/>
                </a:moveTo>
                <a:lnTo>
                  <a:pt x="1791395" y="0"/>
                </a:lnTo>
                <a:lnTo>
                  <a:pt x="1791395" y="356903"/>
                </a:lnTo>
                <a:lnTo>
                  <a:pt x="0" y="356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69" r="-876" b="-176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197857" y="3117370"/>
            <a:ext cx="4335193" cy="4080182"/>
          </a:xfrm>
          <a:custGeom>
            <a:avLst/>
            <a:gdLst/>
            <a:ahLst/>
            <a:cxnLst/>
            <a:rect l="l" t="t" r="r" b="b"/>
            <a:pathLst>
              <a:path w="4335193" h="4080182">
                <a:moveTo>
                  <a:pt x="0" y="0"/>
                </a:moveTo>
                <a:lnTo>
                  <a:pt x="4335194" y="0"/>
                </a:lnTo>
                <a:lnTo>
                  <a:pt x="4335194" y="4080182"/>
                </a:lnTo>
                <a:lnTo>
                  <a:pt x="0" y="4080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818268" y="5592999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818268" y="5662176"/>
            <a:ext cx="9709336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34" b="1">
                <a:solidFill>
                  <a:srgbClr val="201F1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WEEK 8: WEB APPLICATION ENUMERATION &amp; EXPLOITATION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64981"/>
            <a:ext cx="16230600" cy="630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8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Web applications are everywhere, enabling services like banking, shopping, social networking, and more. These applications are accessible via browsers, which makes them easily targeted by attackers.</a:t>
            </a:r>
          </a:p>
          <a:p>
            <a:pPr algn="just">
              <a:lnSpc>
                <a:spcPts val="418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20421" lvl="1" indent="-410210" algn="just">
              <a:lnSpc>
                <a:spcPts val="418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A single vulnerability can compromise user data, impact business operations, and tarnish reputations.</a:t>
            </a:r>
          </a:p>
          <a:p>
            <a:pPr algn="just">
              <a:lnSpc>
                <a:spcPts val="418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20421" lvl="1" indent="-410210" algn="just">
              <a:lnSpc>
                <a:spcPts val="418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Web application security involves identifying, mitigating, and preventing vulnerabilities that may be exploited by malicious users.</a:t>
            </a:r>
          </a:p>
          <a:p>
            <a:pPr algn="just">
              <a:lnSpc>
                <a:spcPts val="418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just">
              <a:lnSpc>
                <a:spcPts val="418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OWASP (Open Web Application Security Project) provides community-driven standards to improve software security.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81075"/>
            <a:ext cx="10976003" cy="769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6"/>
              </a:lnSpc>
              <a:spcBef>
                <a:spcPct val="0"/>
              </a:spcBef>
            </a:pPr>
            <a:r>
              <a:rPr lang="en-US" sz="4669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Introduction to Web Application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74990"/>
            <a:ext cx="16230600" cy="6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4"/>
              </a:lnSpc>
              <a:spcBef>
                <a:spcPct val="0"/>
              </a:spcBef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Burp Suite is a powerful web vulnerability scanner and testing platform developed by PortSwigger.</a:t>
            </a:r>
          </a:p>
          <a:p>
            <a:pPr algn="just">
              <a:lnSpc>
                <a:spcPts val="4374"/>
              </a:lnSpc>
              <a:spcBef>
                <a:spcPct val="0"/>
              </a:spcBef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Widely used by penetration testers and security professionals.</a:t>
            </a:r>
          </a:p>
          <a:p>
            <a:pPr algn="just">
              <a:lnSpc>
                <a:spcPts val="4374"/>
              </a:lnSpc>
              <a:spcBef>
                <a:spcPct val="0"/>
              </a:spcBef>
            </a:pPr>
            <a:endParaRPr lang="en-US" sz="3124" spc="31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just">
              <a:lnSpc>
                <a:spcPts val="4374"/>
              </a:lnSpc>
              <a:spcBef>
                <a:spcPct val="0"/>
              </a:spcBef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Core Features:</a:t>
            </a:r>
          </a:p>
          <a:p>
            <a:pPr marL="674601" lvl="1" indent="-337300" algn="just">
              <a:lnSpc>
                <a:spcPts val="4374"/>
              </a:lnSpc>
              <a:buFont typeface="Arial"/>
              <a:buChar char="•"/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Proxy: Intercepts HTTP/S traffic between browser and web app.</a:t>
            </a:r>
          </a:p>
          <a:p>
            <a:pPr marL="674601" lvl="1" indent="-337300" algn="just">
              <a:lnSpc>
                <a:spcPts val="4374"/>
              </a:lnSpc>
              <a:buFont typeface="Arial"/>
              <a:buChar char="•"/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Repeater: Allows manual editing and resending of requests.</a:t>
            </a:r>
          </a:p>
          <a:p>
            <a:pPr marL="674601" lvl="1" indent="-337300" algn="just">
              <a:lnSpc>
                <a:spcPts val="4374"/>
              </a:lnSpc>
              <a:buFont typeface="Arial"/>
              <a:buChar char="•"/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Intruder: Performs automated fuzzing and brute-force attacks.</a:t>
            </a:r>
          </a:p>
          <a:p>
            <a:pPr marL="674601" lvl="1" indent="-337300" algn="just">
              <a:lnSpc>
                <a:spcPts val="4374"/>
              </a:lnSpc>
              <a:buFont typeface="Arial"/>
              <a:buChar char="•"/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Scanner (Pro only): Automatically finds vulnerabilities.</a:t>
            </a:r>
          </a:p>
          <a:p>
            <a:pPr marL="674601" lvl="1" indent="-337300" algn="just">
              <a:lnSpc>
                <a:spcPts val="4374"/>
              </a:lnSpc>
              <a:buFont typeface="Arial"/>
              <a:buChar char="•"/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Decoder: Encodes/decodes data (Base64, URL, HTML, etc).</a:t>
            </a:r>
          </a:p>
          <a:p>
            <a:pPr marL="674601" lvl="1" indent="-337300" algn="just">
              <a:lnSpc>
                <a:spcPts val="4374"/>
              </a:lnSpc>
              <a:buFont typeface="Arial"/>
              <a:buChar char="•"/>
            </a:pPr>
            <a:r>
              <a:rPr lang="en-US" sz="3124" spc="3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Comparer: Highlights differences in requests/responses.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3790036" cy="2004732"/>
          </a:xfrm>
          <a:custGeom>
            <a:avLst/>
            <a:gdLst/>
            <a:ahLst/>
            <a:cxnLst/>
            <a:rect l="l" t="t" r="r" b="b"/>
            <a:pathLst>
              <a:path w="3790036" h="2004732">
                <a:moveTo>
                  <a:pt x="0" y="0"/>
                </a:moveTo>
                <a:lnTo>
                  <a:pt x="3790036" y="0"/>
                </a:lnTo>
                <a:lnTo>
                  <a:pt x="3790036" y="2004732"/>
                </a:lnTo>
                <a:lnTo>
                  <a:pt x="0" y="2004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4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818736" y="1565134"/>
            <a:ext cx="9001390" cy="76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Introduction to Burp Suite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7725"/>
            <a:ext cx="16230600" cy="8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u="sng" spc="44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Burp Suite Setup, Interface &amp;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07988"/>
            <a:ext cx="16230600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 i="1" u="sng" spc="39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Objectives</a:t>
            </a: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:</a:t>
            </a:r>
          </a:p>
          <a:p>
            <a:pPr marL="863598" lvl="1" indent="-431799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Install FoxyProxy </a:t>
            </a:r>
          </a:p>
          <a:p>
            <a:pPr marL="863598" lvl="1" indent="-431799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Configure BurpSuite, enable burp suite for HTTPS traffic proxying.</a:t>
            </a:r>
          </a:p>
          <a:p>
            <a:pPr marL="863598" lvl="1" indent="-431799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Burp Suite Interface walkthrough</a:t>
            </a:r>
          </a:p>
          <a:p>
            <a:pPr marL="863598" lvl="1" indent="-431799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Burp Suite Proxy tab</a:t>
            </a:r>
          </a:p>
          <a:p>
            <a:pPr marL="863598" lvl="1" indent="-431799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Burp Suite Repeater tab</a:t>
            </a:r>
          </a:p>
          <a:p>
            <a:pPr marL="863598" lvl="1" indent="-431799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Burp Intruder tab</a:t>
            </a:r>
          </a:p>
          <a:p>
            <a:pPr marL="863598" lvl="1" indent="-431799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Burp Decoder tab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881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 b="1" u="sng" spc="4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Burp Suite Demo Contd. Setup</a:t>
            </a:r>
          </a:p>
          <a:p>
            <a:pPr marL="1079494" lvl="1" indent="-539747" algn="just">
              <a:lnSpc>
                <a:spcPts val="6999"/>
              </a:lnSpc>
              <a:spcBef>
                <a:spcPct val="0"/>
              </a:spcBef>
              <a:buAutoNum type="arabicPeriod"/>
            </a:pPr>
            <a:r>
              <a:rPr lang="en-US" sz="4999" spc="4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Configure browser to use Burp Proxy (usually 127.0.0.1:8080).</a:t>
            </a:r>
          </a:p>
          <a:p>
            <a:pPr marL="1079494" lvl="1" indent="-539747" algn="just">
              <a:lnSpc>
                <a:spcPts val="6999"/>
              </a:lnSpc>
              <a:spcBef>
                <a:spcPct val="0"/>
              </a:spcBef>
              <a:buAutoNum type="arabicPeriod"/>
            </a:pPr>
            <a:r>
              <a:rPr lang="en-US" sz="4999" spc="4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Visit a website and inspect/intercept HTTP requests.</a:t>
            </a:r>
          </a:p>
          <a:p>
            <a:pPr marL="1079494" lvl="1" indent="-539747" algn="just">
              <a:lnSpc>
                <a:spcPts val="6999"/>
              </a:lnSpc>
              <a:spcBef>
                <a:spcPct val="0"/>
              </a:spcBef>
              <a:buAutoNum type="arabicPeriod"/>
            </a:pPr>
            <a:r>
              <a:rPr lang="en-US" sz="4999" spc="4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Use Repeater to manipulate and replay requests.</a:t>
            </a:r>
          </a:p>
          <a:p>
            <a:pPr marL="1079494" lvl="1" indent="-539747" algn="just">
              <a:lnSpc>
                <a:spcPts val="6999"/>
              </a:lnSpc>
              <a:spcBef>
                <a:spcPct val="0"/>
              </a:spcBef>
              <a:buAutoNum type="arabicPeriod"/>
            </a:pPr>
            <a:r>
              <a:rPr lang="en-US" sz="4999" spc="4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Use Intruder to brute-force logins or test inputs.</a:t>
            </a:r>
          </a:p>
          <a:p>
            <a:pPr marL="1079494" lvl="1" indent="-539747" algn="just">
              <a:lnSpc>
                <a:spcPts val="6999"/>
              </a:lnSpc>
              <a:spcBef>
                <a:spcPct val="0"/>
              </a:spcBef>
              <a:buAutoNum type="arabicPeriod"/>
            </a:pPr>
            <a:r>
              <a:rPr lang="en-US" sz="4999" spc="4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Analyze responses, cookies, and headers for vulnerabilities.</a:t>
            </a:r>
          </a:p>
          <a:p>
            <a:pPr algn="just">
              <a:lnSpc>
                <a:spcPts val="6999"/>
              </a:lnSpc>
              <a:spcBef>
                <a:spcPct val="0"/>
              </a:spcBef>
            </a:pPr>
            <a:endParaRPr lang="en-US" sz="4999" spc="4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812" y="131094"/>
            <a:ext cx="5027431" cy="1795212"/>
          </a:xfrm>
          <a:custGeom>
            <a:avLst/>
            <a:gdLst/>
            <a:ahLst/>
            <a:cxnLst/>
            <a:rect l="l" t="t" r="r" b="b"/>
            <a:pathLst>
              <a:path w="5027431" h="1795212">
                <a:moveTo>
                  <a:pt x="0" y="0"/>
                </a:moveTo>
                <a:lnTo>
                  <a:pt x="5027431" y="0"/>
                </a:lnTo>
                <a:lnTo>
                  <a:pt x="5027431" y="1795212"/>
                </a:lnTo>
                <a:lnTo>
                  <a:pt x="0" y="1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168118"/>
            <a:ext cx="5957689" cy="2403705"/>
            <a:chOff x="0" y="0"/>
            <a:chExt cx="7943585" cy="3204940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7943585" cy="2600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6414" b="1">
                  <a:solidFill>
                    <a:srgbClr val="201F1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Introduction to OWASP Top 10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395" y="2687005"/>
              <a:ext cx="7186401" cy="517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7"/>
                </a:lnSpc>
                <a:spcBef>
                  <a:spcPct val="0"/>
                </a:spcBef>
              </a:pPr>
              <a:r>
                <a:rPr lang="en-US" sz="2405" spc="24">
                  <a:solidFill>
                    <a:srgbClr val="201F1F"/>
                  </a:solidFill>
                  <a:latin typeface="Muli"/>
                  <a:ea typeface="Muli"/>
                  <a:cs typeface="Muli"/>
                  <a:sym typeface="Muli"/>
                </a:rPr>
                <a:t>OVERVIEW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5884" y="2168118"/>
            <a:ext cx="9823416" cy="7295920"/>
            <a:chOff x="0" y="0"/>
            <a:chExt cx="13097888" cy="9727893"/>
          </a:xfrm>
        </p:grpSpPr>
        <p:sp>
          <p:nvSpPr>
            <p:cNvPr id="7" name="TextBox 7"/>
            <p:cNvSpPr txBox="1"/>
            <p:nvPr/>
          </p:nvSpPr>
          <p:spPr>
            <a:xfrm>
              <a:off x="0" y="1548880"/>
              <a:ext cx="13097888" cy="8179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OWASP stands for Open Web Application Security Project</a:t>
              </a:r>
            </a:p>
            <a:p>
              <a:pPr marL="626106" lvl="1" indent="-313053" algn="just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 globally recognized list of the most critical web app security risks </a:t>
              </a:r>
            </a:p>
            <a:p>
              <a:pPr marL="626106" lvl="1" indent="-313053" algn="just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Its mission is to improve the security of software by providing unbiased, practical information.</a:t>
              </a:r>
            </a:p>
            <a:p>
              <a:pPr marL="626106" lvl="1" indent="-313053" algn="just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 OWASP Top 10 is a list of the most critical web application security risks, updated every few years based on real-world data.</a:t>
              </a:r>
            </a:p>
            <a:p>
              <a:pPr marL="626106" lvl="1" indent="-313053" algn="just">
                <a:lnSpc>
                  <a:spcPts val="40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 is widely used by organizations as a baseline for security assessments, training, and policy development.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3097888" cy="1422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1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201F1F"/>
                  </a:solidFill>
                  <a:latin typeface="Muli Bold"/>
                  <a:ea typeface="Muli Bold"/>
                  <a:cs typeface="Muli Bold"/>
                  <a:sym typeface="Muli Bold"/>
                </a:rPr>
                <a:t>Understanding and Exploiting Critical Web Vulnerabilities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72215" y="1248530"/>
            <a:ext cx="3396944" cy="1348503"/>
            <a:chOff x="0" y="0"/>
            <a:chExt cx="894668" cy="3551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4668" cy="355161"/>
            </a:xfrm>
            <a:custGeom>
              <a:avLst/>
              <a:gdLst/>
              <a:ahLst/>
              <a:cxnLst/>
              <a:rect l="l" t="t" r="r" b="b"/>
              <a:pathLst>
                <a:path w="894668" h="355161">
                  <a:moveTo>
                    <a:pt x="691468" y="0"/>
                  </a:moveTo>
                  <a:cubicBezTo>
                    <a:pt x="803693" y="0"/>
                    <a:pt x="894668" y="79506"/>
                    <a:pt x="894668" y="177581"/>
                  </a:cubicBezTo>
                  <a:cubicBezTo>
                    <a:pt x="894668" y="275656"/>
                    <a:pt x="803693" y="355161"/>
                    <a:pt x="691468" y="355161"/>
                  </a:cubicBezTo>
                  <a:lnTo>
                    <a:pt x="203200" y="355161"/>
                  </a:lnTo>
                  <a:cubicBezTo>
                    <a:pt x="90976" y="355161"/>
                    <a:pt x="0" y="275656"/>
                    <a:pt x="0" y="177581"/>
                  </a:cubicBezTo>
                  <a:cubicBezTo>
                    <a:pt x="0" y="7950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4668" cy="39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29165" y="2863956"/>
            <a:ext cx="3241522" cy="1474641"/>
            <a:chOff x="0" y="0"/>
            <a:chExt cx="853734" cy="3883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3734" cy="388383"/>
            </a:xfrm>
            <a:custGeom>
              <a:avLst/>
              <a:gdLst/>
              <a:ahLst/>
              <a:cxnLst/>
              <a:rect l="l" t="t" r="r" b="b"/>
              <a:pathLst>
                <a:path w="853734" h="388383">
                  <a:moveTo>
                    <a:pt x="650534" y="0"/>
                  </a:moveTo>
                  <a:cubicBezTo>
                    <a:pt x="762758" y="0"/>
                    <a:pt x="853734" y="86942"/>
                    <a:pt x="853734" y="194191"/>
                  </a:cubicBezTo>
                  <a:cubicBezTo>
                    <a:pt x="853734" y="301440"/>
                    <a:pt x="762758" y="388383"/>
                    <a:pt x="650534" y="388383"/>
                  </a:cubicBezTo>
                  <a:lnTo>
                    <a:pt x="203200" y="388383"/>
                  </a:lnTo>
                  <a:cubicBezTo>
                    <a:pt x="90976" y="388383"/>
                    <a:pt x="0" y="301440"/>
                    <a:pt x="0" y="194191"/>
                  </a:cubicBezTo>
                  <a:cubicBezTo>
                    <a:pt x="0" y="8694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53734" cy="42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4066" y="4535168"/>
            <a:ext cx="3365860" cy="1502926"/>
            <a:chOff x="0" y="0"/>
            <a:chExt cx="886482" cy="3958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6482" cy="395832"/>
            </a:xfrm>
            <a:custGeom>
              <a:avLst/>
              <a:gdLst/>
              <a:ahLst/>
              <a:cxnLst/>
              <a:rect l="l" t="t" r="r" b="b"/>
              <a:pathLst>
                <a:path w="886482" h="395832">
                  <a:moveTo>
                    <a:pt x="683282" y="0"/>
                  </a:moveTo>
                  <a:cubicBezTo>
                    <a:pt x="795506" y="0"/>
                    <a:pt x="886482" y="88610"/>
                    <a:pt x="886482" y="197916"/>
                  </a:cubicBezTo>
                  <a:cubicBezTo>
                    <a:pt x="886482" y="307222"/>
                    <a:pt x="795506" y="395832"/>
                    <a:pt x="683282" y="395832"/>
                  </a:cubicBezTo>
                  <a:lnTo>
                    <a:pt x="203200" y="395832"/>
                  </a:lnTo>
                  <a:cubicBezTo>
                    <a:pt x="90976" y="395832"/>
                    <a:pt x="0" y="307222"/>
                    <a:pt x="0" y="197916"/>
                  </a:cubicBezTo>
                  <a:cubicBezTo>
                    <a:pt x="0" y="886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6482" cy="43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04827" y="6352419"/>
            <a:ext cx="3365860" cy="1370237"/>
            <a:chOff x="0" y="0"/>
            <a:chExt cx="886482" cy="3608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6482" cy="360886"/>
            </a:xfrm>
            <a:custGeom>
              <a:avLst/>
              <a:gdLst/>
              <a:ahLst/>
              <a:cxnLst/>
              <a:rect l="l" t="t" r="r" b="b"/>
              <a:pathLst>
                <a:path w="886482" h="360886">
                  <a:moveTo>
                    <a:pt x="683282" y="0"/>
                  </a:moveTo>
                  <a:cubicBezTo>
                    <a:pt x="795506" y="0"/>
                    <a:pt x="886482" y="80787"/>
                    <a:pt x="886482" y="180443"/>
                  </a:cubicBezTo>
                  <a:cubicBezTo>
                    <a:pt x="886482" y="280099"/>
                    <a:pt x="795506" y="360886"/>
                    <a:pt x="683282" y="360886"/>
                  </a:cubicBezTo>
                  <a:lnTo>
                    <a:pt x="203200" y="360886"/>
                  </a:lnTo>
                  <a:cubicBezTo>
                    <a:pt x="90976" y="360886"/>
                    <a:pt x="0" y="280099"/>
                    <a:pt x="0" y="180443"/>
                  </a:cubicBezTo>
                  <a:cubicBezTo>
                    <a:pt x="0" y="807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86482" cy="398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95252" y="1248530"/>
            <a:ext cx="3086100" cy="1348503"/>
            <a:chOff x="0" y="0"/>
            <a:chExt cx="812800" cy="3551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355161"/>
            </a:xfrm>
            <a:custGeom>
              <a:avLst/>
              <a:gdLst/>
              <a:ahLst/>
              <a:cxnLst/>
              <a:rect l="l" t="t" r="r" b="b"/>
              <a:pathLst>
                <a:path w="812800" h="355161">
                  <a:moveTo>
                    <a:pt x="609600" y="0"/>
                  </a:moveTo>
                  <a:cubicBezTo>
                    <a:pt x="721824" y="0"/>
                    <a:pt x="812800" y="79506"/>
                    <a:pt x="812800" y="177581"/>
                  </a:cubicBezTo>
                  <a:cubicBezTo>
                    <a:pt x="812800" y="275656"/>
                    <a:pt x="721824" y="355161"/>
                    <a:pt x="609600" y="355161"/>
                  </a:cubicBezTo>
                  <a:lnTo>
                    <a:pt x="203200" y="355161"/>
                  </a:lnTo>
                  <a:cubicBezTo>
                    <a:pt x="90976" y="355161"/>
                    <a:pt x="0" y="275656"/>
                    <a:pt x="0" y="177581"/>
                  </a:cubicBezTo>
                  <a:cubicBezTo>
                    <a:pt x="0" y="7950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39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38302" y="2749433"/>
            <a:ext cx="3109413" cy="1589164"/>
            <a:chOff x="0" y="0"/>
            <a:chExt cx="818940" cy="4185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8940" cy="418545"/>
            </a:xfrm>
            <a:custGeom>
              <a:avLst/>
              <a:gdLst/>
              <a:ahLst/>
              <a:cxnLst/>
              <a:rect l="l" t="t" r="r" b="b"/>
              <a:pathLst>
                <a:path w="818940" h="418545">
                  <a:moveTo>
                    <a:pt x="615740" y="0"/>
                  </a:moveTo>
                  <a:cubicBezTo>
                    <a:pt x="727964" y="0"/>
                    <a:pt x="818940" y="93695"/>
                    <a:pt x="818940" y="209273"/>
                  </a:cubicBezTo>
                  <a:cubicBezTo>
                    <a:pt x="818940" y="324851"/>
                    <a:pt x="727964" y="418545"/>
                    <a:pt x="615740" y="418545"/>
                  </a:cubicBezTo>
                  <a:lnTo>
                    <a:pt x="203200" y="418545"/>
                  </a:lnTo>
                  <a:cubicBezTo>
                    <a:pt x="90976" y="418545"/>
                    <a:pt x="0" y="324851"/>
                    <a:pt x="0" y="209273"/>
                  </a:cubicBezTo>
                  <a:cubicBezTo>
                    <a:pt x="0" y="936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8940" cy="45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881352" y="4535168"/>
            <a:ext cx="3086100" cy="1502926"/>
            <a:chOff x="0" y="0"/>
            <a:chExt cx="812800" cy="3958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395832"/>
            </a:xfrm>
            <a:custGeom>
              <a:avLst/>
              <a:gdLst/>
              <a:ahLst/>
              <a:cxnLst/>
              <a:rect l="l" t="t" r="r" b="b"/>
              <a:pathLst>
                <a:path w="812800" h="395832">
                  <a:moveTo>
                    <a:pt x="609600" y="0"/>
                  </a:moveTo>
                  <a:cubicBezTo>
                    <a:pt x="721824" y="0"/>
                    <a:pt x="812800" y="88610"/>
                    <a:pt x="812800" y="197916"/>
                  </a:cubicBezTo>
                  <a:cubicBezTo>
                    <a:pt x="812800" y="307222"/>
                    <a:pt x="721824" y="395832"/>
                    <a:pt x="609600" y="395832"/>
                  </a:cubicBezTo>
                  <a:lnTo>
                    <a:pt x="203200" y="395832"/>
                  </a:lnTo>
                  <a:cubicBezTo>
                    <a:pt x="90976" y="395832"/>
                    <a:pt x="0" y="307222"/>
                    <a:pt x="0" y="197916"/>
                  </a:cubicBezTo>
                  <a:cubicBezTo>
                    <a:pt x="0" y="886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12800" cy="43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38302" y="6352419"/>
            <a:ext cx="3266330" cy="1370237"/>
            <a:chOff x="0" y="0"/>
            <a:chExt cx="860268" cy="3608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0268" cy="360886"/>
            </a:xfrm>
            <a:custGeom>
              <a:avLst/>
              <a:gdLst/>
              <a:ahLst/>
              <a:cxnLst/>
              <a:rect l="l" t="t" r="r" b="b"/>
              <a:pathLst>
                <a:path w="860268" h="360886">
                  <a:moveTo>
                    <a:pt x="657068" y="0"/>
                  </a:moveTo>
                  <a:cubicBezTo>
                    <a:pt x="769292" y="0"/>
                    <a:pt x="860268" y="80787"/>
                    <a:pt x="860268" y="180443"/>
                  </a:cubicBezTo>
                  <a:cubicBezTo>
                    <a:pt x="860268" y="280099"/>
                    <a:pt x="769292" y="360886"/>
                    <a:pt x="657068" y="360886"/>
                  </a:cubicBezTo>
                  <a:lnTo>
                    <a:pt x="203200" y="360886"/>
                  </a:lnTo>
                  <a:cubicBezTo>
                    <a:pt x="90976" y="360886"/>
                    <a:pt x="0" y="280099"/>
                    <a:pt x="0" y="180443"/>
                  </a:cubicBezTo>
                  <a:cubicBezTo>
                    <a:pt x="0" y="807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60268" cy="398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49926" y="8041636"/>
            <a:ext cx="3365860" cy="1372086"/>
            <a:chOff x="0" y="0"/>
            <a:chExt cx="886482" cy="3613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6482" cy="361372"/>
            </a:xfrm>
            <a:custGeom>
              <a:avLst/>
              <a:gdLst/>
              <a:ahLst/>
              <a:cxnLst/>
              <a:rect l="l" t="t" r="r" b="b"/>
              <a:pathLst>
                <a:path w="886482" h="361372">
                  <a:moveTo>
                    <a:pt x="683282" y="0"/>
                  </a:moveTo>
                  <a:cubicBezTo>
                    <a:pt x="795506" y="0"/>
                    <a:pt x="886482" y="80896"/>
                    <a:pt x="886482" y="180686"/>
                  </a:cubicBezTo>
                  <a:cubicBezTo>
                    <a:pt x="886482" y="280476"/>
                    <a:pt x="795506" y="361372"/>
                    <a:pt x="683282" y="361372"/>
                  </a:cubicBezTo>
                  <a:lnTo>
                    <a:pt x="203200" y="361372"/>
                  </a:lnTo>
                  <a:cubicBezTo>
                    <a:pt x="90976" y="361372"/>
                    <a:pt x="0" y="280476"/>
                    <a:pt x="0" y="180686"/>
                  </a:cubicBezTo>
                  <a:cubicBezTo>
                    <a:pt x="0" y="80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86482" cy="399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95252" y="8041636"/>
            <a:ext cx="3365860" cy="1372086"/>
            <a:chOff x="0" y="0"/>
            <a:chExt cx="886482" cy="3613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86482" cy="361372"/>
            </a:xfrm>
            <a:custGeom>
              <a:avLst/>
              <a:gdLst/>
              <a:ahLst/>
              <a:cxnLst/>
              <a:rect l="l" t="t" r="r" b="b"/>
              <a:pathLst>
                <a:path w="886482" h="361372">
                  <a:moveTo>
                    <a:pt x="683282" y="0"/>
                  </a:moveTo>
                  <a:cubicBezTo>
                    <a:pt x="795506" y="0"/>
                    <a:pt x="886482" y="80896"/>
                    <a:pt x="886482" y="180686"/>
                  </a:cubicBezTo>
                  <a:cubicBezTo>
                    <a:pt x="886482" y="280476"/>
                    <a:pt x="795506" y="361372"/>
                    <a:pt x="683282" y="361372"/>
                  </a:cubicBezTo>
                  <a:lnTo>
                    <a:pt x="203200" y="361372"/>
                  </a:lnTo>
                  <a:cubicBezTo>
                    <a:pt x="90976" y="361372"/>
                    <a:pt x="0" y="280476"/>
                    <a:pt x="0" y="180686"/>
                  </a:cubicBezTo>
                  <a:cubicBezTo>
                    <a:pt x="0" y="80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86482" cy="399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73459" y="3622743"/>
            <a:ext cx="3086100" cy="308610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B0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7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84066" y="353181"/>
            <a:ext cx="1587523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1">
                <a:solidFill>
                  <a:srgbClr val="201F1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OWASP Top 10 Overview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98800" y="1415661"/>
            <a:ext cx="2943773" cy="89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spcBef>
                <a:spcPct val="0"/>
              </a:spcBef>
            </a:pPr>
            <a:r>
              <a:rPr lang="en-US" sz="2605" b="1" spc="26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A01: Broken Access Control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56706" y="1276987"/>
            <a:ext cx="2363192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spc="23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A06: vulnerable &amp; outdated components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18218" y="2922408"/>
            <a:ext cx="2534907" cy="135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spcBef>
                <a:spcPct val="0"/>
              </a:spcBef>
            </a:pPr>
            <a:r>
              <a:rPr lang="en-US" sz="2605" b="1" spc="26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A02:  Cryptographic Failures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20579" y="2711778"/>
            <a:ext cx="2344860" cy="162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sz="2327" b="1" spc="23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A07: Identification &amp; Authentication flaws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15870" y="6591838"/>
            <a:ext cx="2943773" cy="89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spcBef>
                <a:spcPct val="0"/>
              </a:spcBef>
            </a:pPr>
            <a:r>
              <a:rPr lang="en-US" sz="2605" b="1" spc="26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A04: Insecure Design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75759" y="8281979"/>
            <a:ext cx="2805593" cy="86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  <a:spcBef>
                <a:spcPct val="0"/>
              </a:spcBef>
            </a:pPr>
            <a:r>
              <a:rPr lang="en-US" sz="2505" b="1" spc="25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A10: Server-Side Request Forgery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60969" y="8313207"/>
            <a:ext cx="2943773" cy="86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  <a:spcBef>
                <a:spcPct val="0"/>
              </a:spcBef>
            </a:pPr>
            <a:r>
              <a:rPr lang="en-US" sz="2505" b="1" spc="25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A05: Security Misconfigurations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720579" y="6425784"/>
            <a:ext cx="2595179" cy="118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7"/>
              </a:lnSpc>
              <a:spcBef>
                <a:spcPct val="0"/>
              </a:spcBef>
            </a:pPr>
            <a:r>
              <a:rPr lang="en-US" sz="2291" b="1" spc="22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A09: Security Logging &amp; Monitoring Flaws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48320" y="5043496"/>
            <a:ext cx="3301606" cy="43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spcBef>
                <a:spcPct val="0"/>
              </a:spcBef>
            </a:pPr>
            <a:r>
              <a:rPr lang="en-US" sz="2605" b="1" spc="26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A03: Injections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161112" y="4650431"/>
            <a:ext cx="2573207" cy="123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7"/>
              </a:lnSpc>
              <a:spcBef>
                <a:spcPct val="0"/>
              </a:spcBef>
            </a:pPr>
            <a:r>
              <a:rPr lang="en-US" sz="2405" b="1" spc="24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A08: Software &amp; Data Integrity failures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15785" y="4759122"/>
            <a:ext cx="2852150" cy="100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9"/>
              </a:lnSpc>
              <a:spcBef>
                <a:spcPct val="0"/>
              </a:spcBef>
            </a:pPr>
            <a:r>
              <a:rPr lang="en-US" sz="2906" b="1" spc="29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OWASP TOP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04359" y="1717034"/>
            <a:ext cx="11154941" cy="719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Occurs when users can act outside of their intended permissions.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Common issues: vertical privilege escalation (user to admin), horizontal privilege escalation (accessing another user's data), and unrestricted file access.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Example: Changing a URL from /user/123/profile to /user/124/profile to view another user’s information.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just">
              <a:lnSpc>
                <a:spcPts val="4759"/>
              </a:lnSpc>
            </a:pPr>
            <a:r>
              <a:rPr lang="en-US" sz="3399" b="1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Mitigation</a:t>
            </a: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: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Enforce role-based access control (RBAC).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Implement server-side authorization checks.</a:t>
            </a:r>
          </a:p>
          <a:p>
            <a:pPr marL="1468119" lvl="2" indent="-489373" algn="just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Deny access by default unless explicitly allowed.</a:t>
            </a:r>
          </a:p>
        </p:txBody>
      </p:sp>
      <p:sp>
        <p:nvSpPr>
          <p:cNvPr id="3" name="Freeform 3"/>
          <p:cNvSpPr/>
          <p:nvPr/>
        </p:nvSpPr>
        <p:spPr>
          <a:xfrm>
            <a:off x="866475" y="1561930"/>
            <a:ext cx="4449156" cy="5509791"/>
          </a:xfrm>
          <a:custGeom>
            <a:avLst/>
            <a:gdLst/>
            <a:ahLst/>
            <a:cxnLst/>
            <a:rect l="l" t="t" r="r" b="b"/>
            <a:pathLst>
              <a:path w="4449156" h="5509791">
                <a:moveTo>
                  <a:pt x="0" y="0"/>
                </a:moveTo>
                <a:lnTo>
                  <a:pt x="4449156" y="0"/>
                </a:lnTo>
                <a:lnTo>
                  <a:pt x="4449156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104359" y="1028700"/>
            <a:ext cx="1115494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A01 - Broken Access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71525"/>
            <a:ext cx="4919538" cy="242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 spc="64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Forced Browsing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32919" y="760744"/>
            <a:ext cx="10826381" cy="92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1"/>
              </a:lnSpc>
              <a:spcBef>
                <a:spcPct val="0"/>
              </a:spcBef>
            </a:pP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Forced browsing occurs when an attacker manually accesses unauthorized resources by manipulating URLs or guessing hidden file paths.</a:t>
            </a:r>
          </a:p>
          <a:p>
            <a:pPr algn="just">
              <a:lnSpc>
                <a:spcPts val="4061"/>
              </a:lnSpc>
              <a:spcBef>
                <a:spcPct val="0"/>
              </a:spcBef>
            </a:pPr>
            <a:endParaRPr lang="en-US" sz="2901" spc="2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just">
              <a:lnSpc>
                <a:spcPts val="4061"/>
              </a:lnSpc>
              <a:spcBef>
                <a:spcPct val="0"/>
              </a:spcBef>
            </a:pPr>
            <a:r>
              <a:rPr lang="en-US" sz="2901" b="1" u="sng" spc="2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Example</a:t>
            </a: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: Visiting /admin or /backup.zip even if they’re not linked anywhere on the site.</a:t>
            </a:r>
          </a:p>
          <a:p>
            <a:pPr algn="just">
              <a:lnSpc>
                <a:spcPts val="4061"/>
              </a:lnSpc>
              <a:spcBef>
                <a:spcPct val="0"/>
              </a:spcBef>
            </a:pPr>
            <a:endParaRPr lang="en-US" sz="2901" spc="2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just">
              <a:lnSpc>
                <a:spcPts val="4061"/>
              </a:lnSpc>
              <a:spcBef>
                <a:spcPct val="0"/>
              </a:spcBef>
            </a:pPr>
            <a:r>
              <a:rPr lang="en-US" sz="2901" b="1" u="sng" spc="2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Use Case:</a:t>
            </a: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Discovering and accessing unprotected admin panels, backups, or configuration files.</a:t>
            </a:r>
          </a:p>
          <a:p>
            <a:pPr algn="just">
              <a:lnSpc>
                <a:spcPts val="4061"/>
              </a:lnSpc>
              <a:spcBef>
                <a:spcPct val="0"/>
              </a:spcBef>
            </a:pP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How It Relates to A01: It bypasses intended access controls, often due to missing or weak authorization checks.</a:t>
            </a:r>
          </a:p>
          <a:p>
            <a:pPr algn="just">
              <a:lnSpc>
                <a:spcPts val="4061"/>
              </a:lnSpc>
              <a:spcBef>
                <a:spcPct val="0"/>
              </a:spcBef>
            </a:pPr>
            <a:endParaRPr lang="en-US" sz="2901" spc="2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just">
              <a:lnSpc>
                <a:spcPts val="4061"/>
              </a:lnSpc>
              <a:spcBef>
                <a:spcPct val="0"/>
              </a:spcBef>
            </a:pPr>
            <a:r>
              <a:rPr lang="en-US" sz="2901" b="1" u="sng" spc="2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Mitigation:</a:t>
            </a:r>
          </a:p>
          <a:p>
            <a:pPr marL="626344" lvl="1" indent="-313172" algn="just">
              <a:lnSpc>
                <a:spcPts val="4061"/>
              </a:lnSpc>
              <a:buFont typeface="Arial"/>
              <a:buChar char="•"/>
            </a:pP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Implement strict access control on all endpoints.</a:t>
            </a:r>
          </a:p>
          <a:p>
            <a:pPr marL="626344" lvl="1" indent="-313172" algn="just">
              <a:lnSpc>
                <a:spcPts val="4061"/>
              </a:lnSpc>
              <a:buFont typeface="Arial"/>
              <a:buChar char="•"/>
            </a:pP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Do not rely solely on obscurity (e.g., hidden links).</a:t>
            </a:r>
          </a:p>
          <a:p>
            <a:pPr marL="626344" lvl="1" indent="-313172" algn="just">
              <a:lnSpc>
                <a:spcPts val="4061"/>
              </a:lnSpc>
              <a:buFont typeface="Arial"/>
              <a:buChar char="•"/>
            </a:pP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Regularly audit exposed files and directories.</a:t>
            </a:r>
          </a:p>
          <a:p>
            <a:pPr algn="just">
              <a:lnSpc>
                <a:spcPts val="4061"/>
              </a:lnSpc>
              <a:spcBef>
                <a:spcPct val="0"/>
              </a:spcBef>
            </a:pPr>
            <a:r>
              <a:rPr lang="en-US" sz="2901" spc="2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Use tools like Burp Suite or Gobuster to test for forced browsing vulnerabilities.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Forced Browsing With FFUF/Gobuster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00604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Explanation of Fuzzing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Installation of Gobuster &amp; FFUF (“Fuzz Faster U Fool”) tool.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Finding Hidden directories with FFUF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spc="3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Broken Access Control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 dirty="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Explanation of an Insecure Direct Object Referencing (IDOR) vulnerability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an IDOR vulnerability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Exploiting OWASP Top 10:IDOR on </a:t>
            </a:r>
            <a:r>
              <a:rPr lang="en-US" sz="3999" u="sng" spc="3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TryHackMe</a:t>
            </a:r>
            <a:endParaRPr lang="en-US" sz="3999" u="sng" spc="39" dirty="0">
              <a:solidFill>
                <a:srgbClr val="000000"/>
              </a:solidFill>
              <a:latin typeface="Muli"/>
              <a:ea typeface="Muli"/>
              <a:cs typeface="Muli"/>
              <a:sym typeface="Muli"/>
              <a:hlinkClick r:id="rId2" tooltip="https://tryhackme.com/room/owasptop102021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8064" y="1028700"/>
            <a:ext cx="11011236" cy="8313983"/>
            <a:chOff x="0" y="0"/>
            <a:chExt cx="14681648" cy="11085311"/>
          </a:xfrm>
        </p:grpSpPr>
        <p:sp>
          <p:nvSpPr>
            <p:cNvPr id="3" name="TextBox 3"/>
            <p:cNvSpPr txBox="1"/>
            <p:nvPr/>
          </p:nvSpPr>
          <p:spPr>
            <a:xfrm>
              <a:off x="0" y="777263"/>
              <a:ext cx="14681648" cy="1030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75444" lvl="1" indent="-337722" algn="just">
                <a:lnSpc>
                  <a:spcPts val="4379"/>
                </a:lnSpc>
                <a:buFont typeface="Arial"/>
                <a:buChar char="•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Results from improper use of encryption, or not encrypting sensitive data at all.</a:t>
              </a:r>
            </a:p>
            <a:p>
              <a:pPr marL="675444" lvl="1" indent="-337722" algn="just">
                <a:lnSpc>
                  <a:spcPts val="4379"/>
                </a:lnSpc>
                <a:buFont typeface="Arial"/>
                <a:buChar char="•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Examples:</a:t>
              </a:r>
            </a:p>
            <a:p>
              <a:pPr marL="1350888" lvl="2" indent="-450296" algn="just">
                <a:lnSpc>
                  <a:spcPts val="4379"/>
                </a:lnSpc>
                <a:buFont typeface="Arial"/>
                <a:buChar char="⚬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Transmitting data over HTTP instead of HTTPS.</a:t>
              </a:r>
            </a:p>
            <a:p>
              <a:pPr marL="1350888" lvl="2" indent="-450296" algn="just">
                <a:lnSpc>
                  <a:spcPts val="4379"/>
                </a:lnSpc>
                <a:buFont typeface="Arial"/>
                <a:buChar char="⚬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Using outdated encryption algorithms (e.g., MD5, SHA1).</a:t>
              </a:r>
            </a:p>
            <a:p>
              <a:pPr marL="675444" lvl="1" indent="-337722" algn="just">
                <a:lnSpc>
                  <a:spcPts val="4379"/>
                </a:lnSpc>
                <a:buFont typeface="Arial"/>
                <a:buChar char="•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Attackers may intercept or tamper with data in transit or at rest.</a:t>
              </a:r>
            </a:p>
            <a:p>
              <a:pPr algn="just">
                <a:lnSpc>
                  <a:spcPts val="4379"/>
                </a:lnSpc>
              </a:pPr>
              <a:endParaRPr lang="en-US" sz="3128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algn="just">
                <a:lnSpc>
                  <a:spcPts val="4379"/>
                </a:lnSpc>
              </a:pPr>
              <a:r>
                <a:rPr lang="en-US" sz="3128" b="1" u="sng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Mitigation</a:t>
              </a: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:</a:t>
              </a:r>
            </a:p>
            <a:p>
              <a:pPr marL="1350888" lvl="2" indent="-450296" algn="just">
                <a:lnSpc>
                  <a:spcPts val="4379"/>
                </a:lnSpc>
                <a:buFont typeface="Arial"/>
                <a:buChar char="⚬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Use strong, up-to-date cryptographic protocols (e.g., TLS 1.2+).</a:t>
              </a:r>
            </a:p>
            <a:p>
              <a:pPr marL="1350888" lvl="2" indent="-450296" algn="just">
                <a:lnSpc>
                  <a:spcPts val="437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Store passwords using secure hashing algorithms like bcrypt or Argo</a:t>
              </a:r>
              <a:r>
                <a:rPr lang="en-US" sz="3128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</a:t>
              </a:r>
              <a:r>
                <a:rPr lang="en-US" sz="3128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2.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4681648" cy="695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06"/>
                </a:lnSpc>
                <a:spcBef>
                  <a:spcPct val="0"/>
                </a:spcBef>
              </a:pPr>
              <a:r>
                <a:rPr lang="en-US" sz="3421" b="1">
                  <a:solidFill>
                    <a:srgbClr val="201F1F"/>
                  </a:solidFill>
                  <a:latin typeface="Muli Bold"/>
                  <a:ea typeface="Muli Bold"/>
                  <a:cs typeface="Muli Bold"/>
                  <a:sym typeface="Muli Bold"/>
                </a:rPr>
                <a:t>A02 - Cryptographic Failures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358434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Cryptographic Failures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31175"/>
            <a:ext cx="16230600" cy="295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1" u="sng" spc="4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906778" lvl="1" indent="-453389" algn="just">
              <a:lnSpc>
                <a:spcPts val="5879"/>
              </a:lnSpc>
              <a:buFont typeface="Arial"/>
              <a:buChar char="•"/>
            </a:pPr>
            <a:r>
              <a:rPr lang="en-US" sz="4199" spc="4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Cryptographic failures (an example/scenerio)</a:t>
            </a:r>
          </a:p>
          <a:p>
            <a:pPr marL="906778" lvl="1" indent="-453389" algn="just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 spc="4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Exploiting OWASP Top 10:Cryptographic Failures - Use of weak Encryption algorithm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36920" y="923856"/>
            <a:ext cx="11722380" cy="8439287"/>
            <a:chOff x="0" y="0"/>
            <a:chExt cx="15629840" cy="11252383"/>
          </a:xfrm>
        </p:grpSpPr>
        <p:sp>
          <p:nvSpPr>
            <p:cNvPr id="3" name="TextBox 3"/>
            <p:cNvSpPr txBox="1"/>
            <p:nvPr/>
          </p:nvSpPr>
          <p:spPr>
            <a:xfrm>
              <a:off x="0" y="973849"/>
              <a:ext cx="15629840" cy="10278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63596" lvl="1" indent="-431798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Occurs when untrusted data is sent to an interpreter as p</a:t>
              </a: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art of a command or query.</a:t>
              </a:r>
            </a:p>
            <a:p>
              <a:pPr marL="863596" lvl="1" indent="-431798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Types:</a:t>
              </a:r>
            </a:p>
            <a:p>
              <a:pPr marL="1727192" lvl="2" indent="-575731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SQL Injection, OS Command Injection, NoSQL Injection, LDAP Injection, etc.</a:t>
              </a:r>
            </a:p>
            <a:p>
              <a:pPr marL="863596" lvl="1" indent="-431798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Example: Inputting ' OR 1=1-- in a login field to bypass authentication.</a:t>
              </a:r>
            </a:p>
            <a:p>
              <a:pPr marL="1727192" lvl="2" indent="-575731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Mitigation:</a:t>
              </a:r>
            </a:p>
            <a:p>
              <a:pPr marL="1727192" lvl="2" indent="-575731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Use parameterized queries and prepared statements.</a:t>
              </a:r>
            </a:p>
            <a:p>
              <a:pPr marL="1727192" lvl="2" indent="-575731" algn="just">
                <a:lnSpc>
                  <a:spcPts val="55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999" u="none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Validate and sanitize all user inputs.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5629840" cy="892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99"/>
                </a:lnSpc>
                <a:spcBef>
                  <a:spcPct val="0"/>
                </a:spcBef>
              </a:pPr>
              <a:r>
                <a:rPr lang="en-US" sz="4499" b="1">
                  <a:solidFill>
                    <a:srgbClr val="201F1F"/>
                  </a:solidFill>
                  <a:latin typeface="Muli Bold"/>
                  <a:ea typeface="Muli Bold"/>
                  <a:cs typeface="Muli Bold"/>
                  <a:sym typeface="Muli Bold"/>
                </a:rPr>
                <a:t> A03 - Injection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897598" y="2170498"/>
            <a:ext cx="4371626" cy="4371626"/>
          </a:xfrm>
          <a:custGeom>
            <a:avLst/>
            <a:gdLst/>
            <a:ahLst/>
            <a:cxnLst/>
            <a:rect l="l" t="t" r="r" b="b"/>
            <a:pathLst>
              <a:path w="4371626" h="4371626">
                <a:moveTo>
                  <a:pt x="0" y="0"/>
                </a:moveTo>
                <a:lnTo>
                  <a:pt x="4371625" y="0"/>
                </a:lnTo>
                <a:lnTo>
                  <a:pt x="4371625" y="4371626"/>
                </a:lnTo>
                <a:lnTo>
                  <a:pt x="0" y="4371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Injections (Command Injection)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Explanation of a Command Injection Vulnerabilities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an Command Injection vulnerabilities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Exploiting OWASP Top 10: Command injection on </a:t>
            </a:r>
            <a:r>
              <a:rPr lang="en-US" sz="3999" u="sng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61023" y="1962057"/>
            <a:ext cx="10698277" cy="790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Concerns flaws in the application architecture and design that create security risks.</a:t>
            </a: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Often includes missing or ineffective security controls.</a:t>
            </a: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Example: Allowing password resets without verifying user identity.</a:t>
            </a: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1597643" lvl="2" indent="-532548" algn="l">
              <a:lnSpc>
                <a:spcPts val="4439"/>
              </a:lnSpc>
              <a:buFont typeface="Arial"/>
              <a:buChar char="⚬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Adopt secure development lifecycle (SDLC) practices.</a:t>
            </a:r>
          </a:p>
          <a:p>
            <a:pPr marL="1597643" lvl="2" indent="-532548" algn="l">
              <a:lnSpc>
                <a:spcPts val="4439"/>
              </a:lnSpc>
              <a:buFont typeface="Arial"/>
              <a:buChar char="⚬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Perform threat modeling during design phases.</a:t>
            </a:r>
          </a:p>
          <a:p>
            <a:pPr marL="1597643" lvl="2" indent="-532548" algn="l">
              <a:lnSpc>
                <a:spcPts val="4439"/>
              </a:lnSpc>
              <a:buFont typeface="Arial"/>
              <a:buChar char="⚬"/>
            </a:pPr>
            <a:r>
              <a:rPr lang="en-US" sz="3699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Define and enforce security requirements.</a:t>
            </a:r>
          </a:p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endParaRPr lang="en-US" sz="3699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2069053"/>
            <a:ext cx="5111824" cy="5292179"/>
          </a:xfrm>
          <a:custGeom>
            <a:avLst/>
            <a:gdLst/>
            <a:ahLst/>
            <a:cxnLst/>
            <a:rect l="l" t="t" r="r" b="b"/>
            <a:pathLst>
              <a:path w="5111824" h="5292179">
                <a:moveTo>
                  <a:pt x="0" y="0"/>
                </a:moveTo>
                <a:lnTo>
                  <a:pt x="5111824" y="0"/>
                </a:lnTo>
                <a:lnTo>
                  <a:pt x="5111824" y="5292179"/>
                </a:lnTo>
                <a:lnTo>
                  <a:pt x="0" y="5292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561023" y="952500"/>
            <a:ext cx="1137681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b="1" spc="44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A04 - Insecure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Insecure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Explanation of an Insecure Design scenerio: OTP Password Reset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&amp; exploiting an Insecure Password reset vulnerability: OWASP Top 10:IDOR on </a:t>
            </a:r>
            <a:r>
              <a:rPr lang="en-US" sz="3999" u="sng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36920" y="1916906"/>
            <a:ext cx="11722380" cy="702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7976" lvl="1" indent="-413988" algn="l">
              <a:lnSpc>
                <a:spcPts val="4601"/>
              </a:lnSpc>
              <a:buFont typeface="Arial"/>
              <a:buChar char="•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Happens when security settings are improperly set or left as insecure defaults.</a:t>
            </a:r>
          </a:p>
          <a:p>
            <a:pPr marL="827976" lvl="1" indent="-413988" algn="l">
              <a:lnSpc>
                <a:spcPts val="4601"/>
              </a:lnSpc>
              <a:buFont typeface="Arial"/>
              <a:buChar char="•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Examples: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Exposed admin interfaces.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Default credentials.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Enabling functions that allow code execution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Detailed error messages with stack traces.</a:t>
            </a:r>
          </a:p>
          <a:p>
            <a:pPr marL="827976" lvl="1" indent="-413988" algn="l">
              <a:lnSpc>
                <a:spcPts val="4601"/>
              </a:lnSpc>
              <a:buFont typeface="Arial"/>
              <a:buChar char="•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Harden servers and applications.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Regularly review and audit configurations.</a:t>
            </a:r>
          </a:p>
          <a:p>
            <a:pPr marL="1655952" lvl="2" indent="-551984" algn="l">
              <a:lnSpc>
                <a:spcPts val="4601"/>
              </a:lnSpc>
              <a:buFont typeface="Arial"/>
              <a:buChar char="⚬"/>
            </a:pPr>
            <a:r>
              <a:rPr lang="en-US" sz="3834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Remove unnecessary services and features.</a:t>
            </a:r>
          </a:p>
          <a:p>
            <a:pPr marL="0" lvl="0" indent="0" algn="l">
              <a:lnSpc>
                <a:spcPts val="4601"/>
              </a:lnSpc>
              <a:spcBef>
                <a:spcPct val="0"/>
              </a:spcBef>
            </a:pPr>
            <a:endParaRPr lang="en-US" sz="3834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1831116"/>
            <a:ext cx="4350256" cy="5438239"/>
          </a:xfrm>
          <a:custGeom>
            <a:avLst/>
            <a:gdLst/>
            <a:ahLst/>
            <a:cxnLst/>
            <a:rect l="l" t="t" r="r" b="b"/>
            <a:pathLst>
              <a:path w="4350256" h="5438239">
                <a:moveTo>
                  <a:pt x="0" y="0"/>
                </a:moveTo>
                <a:lnTo>
                  <a:pt x="4350256" y="0"/>
                </a:lnTo>
                <a:lnTo>
                  <a:pt x="4350256" y="5438239"/>
                </a:lnTo>
                <a:lnTo>
                  <a:pt x="0" y="5438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82481" y="952500"/>
            <a:ext cx="1137681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b="1" spc="44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 A05 - Security Misconfiguration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Security Misconfigurations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28900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Walkthrough of a Flask Web Application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an Security Misconfiguration on WerkZeug Flask server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Exploiting access to WerkZeug Flask Debug console - OWASP Top 10: Security Misconfiguration on </a:t>
            </a:r>
            <a:r>
              <a:rPr lang="en-US" sz="3999" u="sng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2481" y="1372101"/>
            <a:ext cx="11722380" cy="800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Applications that use components with known vulnerabilities can be easily compromised.</a:t>
            </a:r>
          </a:p>
          <a:p>
            <a:pPr algn="l">
              <a:lnSpc>
                <a:spcPts val="4560"/>
              </a:lnSpc>
            </a:pPr>
            <a:endParaRPr lang="en-US" sz="3800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4560"/>
              </a:lnSpc>
            </a:pPr>
            <a:r>
              <a:rPr lang="en-US" sz="3800" b="1" u="sng" dirty="0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Examples: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Outdated libraries, plugins, or frameworks.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Lack of dependency checking.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Attackers exploit known flaws via tools or manual testing.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Maintain inventory of components and their versions.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Use tools like OWASP Dependency-Check or </a:t>
            </a:r>
            <a:r>
              <a:rPr lang="en-US" sz="3800" dirty="0" err="1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Snyk</a:t>
            </a: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marL="820421" lvl="1" indent="-410210" algn="l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Apply updates regularly.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2155000"/>
            <a:ext cx="4372052" cy="4372052"/>
          </a:xfrm>
          <a:custGeom>
            <a:avLst/>
            <a:gdLst/>
            <a:ahLst/>
            <a:cxnLst/>
            <a:rect l="l" t="t" r="r" b="b"/>
            <a:pathLst>
              <a:path w="4372052" h="4372052">
                <a:moveTo>
                  <a:pt x="0" y="0"/>
                </a:moveTo>
                <a:lnTo>
                  <a:pt x="4372052" y="0"/>
                </a:lnTo>
                <a:lnTo>
                  <a:pt x="4372052" y="4372052"/>
                </a:lnTo>
                <a:lnTo>
                  <a:pt x="0" y="437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82481" y="650875"/>
            <a:ext cx="1137681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 A06 - Vulnerable and Outdated Components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Vulnerable and Outdated Components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Walkthrough of a Vulnerable web application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vulnerabilities on web applications, using public sources to conduct recon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Exploiting discovered vulnerabilities(Nostromo Vulnerability) using Public exploits - OWASP Top 10: Vulnerable &amp; Outdated components on </a:t>
            </a:r>
            <a:r>
              <a:rPr lang="en-US" sz="3999" u="sng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</a:t>
            </a: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2481" y="2155000"/>
            <a:ext cx="11722380" cy="685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They refer to Weaknesses in the authentication mechanism.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u="none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Examples: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Weak passwords, no rate limiting, predictable session tokens.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Risks: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Account takeovers, brute force attacks.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Enforce strong password policies.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Use multi-factor authentication (MFA).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Secure session management.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endParaRPr lang="en-US" sz="3800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2323137"/>
            <a:ext cx="4611013" cy="4631598"/>
          </a:xfrm>
          <a:custGeom>
            <a:avLst/>
            <a:gdLst/>
            <a:ahLst/>
            <a:cxnLst/>
            <a:rect l="l" t="t" r="r" b="b"/>
            <a:pathLst>
              <a:path w="4611013" h="4631598">
                <a:moveTo>
                  <a:pt x="0" y="0"/>
                </a:moveTo>
                <a:lnTo>
                  <a:pt x="4611013" y="0"/>
                </a:lnTo>
                <a:lnTo>
                  <a:pt x="4611013" y="4631598"/>
                </a:lnTo>
                <a:lnTo>
                  <a:pt x="0" y="4631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82481" y="645523"/>
            <a:ext cx="11376819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A07 - Identification and Authentication Failures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6242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Identification and Authentication Failures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Understanding common authentication failure vectors; Weak session cookies, username vulnerabilities, bruteforce attacks</a:t>
            </a:r>
          </a:p>
          <a:p>
            <a:pPr algn="just">
              <a:lnSpc>
                <a:spcPts val="5599"/>
              </a:lnSpc>
            </a:pPr>
            <a:endParaRPr lang="en-US" sz="3999" spc="3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Exploiting web applications vulnerable to authentication and identification failures - OWASP Top 10: Identification &amp; Authentication Failures on </a:t>
            </a:r>
            <a:r>
              <a:rPr lang="en-US" sz="3999" u="sng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</a:t>
            </a: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2481" y="2155000"/>
            <a:ext cx="11722380" cy="685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Applications rely on external sources like packages and updates that can be tampered with.</a:t>
            </a:r>
          </a:p>
          <a:p>
            <a:pPr algn="l">
              <a:lnSpc>
                <a:spcPts val="4560"/>
              </a:lnSpc>
            </a:pPr>
            <a:endParaRPr lang="en-US" sz="3800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u="none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Example:</a:t>
            </a: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 Installing a malicious library or compromised CI/CD pipeline.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Use digital signatures to verify code and packages.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Employ secure CI/CD practices with checks and validations.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endParaRPr lang="en-US" sz="3800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2319785"/>
            <a:ext cx="4366826" cy="4386320"/>
          </a:xfrm>
          <a:custGeom>
            <a:avLst/>
            <a:gdLst/>
            <a:ahLst/>
            <a:cxnLst/>
            <a:rect l="l" t="t" r="r" b="b"/>
            <a:pathLst>
              <a:path w="4366826" h="4386320">
                <a:moveTo>
                  <a:pt x="0" y="0"/>
                </a:moveTo>
                <a:lnTo>
                  <a:pt x="4366826" y="0"/>
                </a:lnTo>
                <a:lnTo>
                  <a:pt x="4366826" y="4386320"/>
                </a:lnTo>
                <a:lnTo>
                  <a:pt x="0" y="4386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82481" y="952500"/>
            <a:ext cx="1137681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A08 - Software and Data Integrity Failures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6242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Software and Data Integrity Failures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35051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Revision on Hashing for File Integrity checks as Checksums.</a:t>
            </a:r>
          </a:p>
          <a:p>
            <a:pPr algn="just">
              <a:lnSpc>
                <a:spcPts val="5599"/>
              </a:lnSpc>
            </a:pPr>
            <a:endParaRPr lang="en-US" sz="3999" spc="3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Scenerio 1: Examining </a:t>
            </a:r>
            <a:r>
              <a:rPr lang="en-US" sz="3999" b="1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Software Integrity Failure</a:t>
            </a: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scenerio (Malicious third party JS library) - OWASP Top 10: Software &amp; Data Integrity Failures on </a:t>
            </a:r>
            <a:r>
              <a:rPr lang="en-US" sz="3999" u="sng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2" tooltip="https://tryhackme.com/room/owasptop102021"/>
              </a:rPr>
              <a:t>TryHackM</a:t>
            </a: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spc="3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Scenerio 2: Examining &amp; Exploiting </a:t>
            </a:r>
            <a:r>
              <a:rPr lang="en-US" sz="3999" b="1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Data Integrity Failure</a:t>
            </a: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scenerio (Weak JWT token) - OWASP Top 10: Software &amp;  Data Integrity Failures on TryHackMe.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2481" y="2262733"/>
            <a:ext cx="11722380" cy="628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Lack of proper logging and monitoring delays breach detection and response.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u="none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Examples: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No logs for login failures.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Logs not centralized or monitored.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Implement centralized logging solutions (e.g., ELK, Splunk).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Set up real-time alerts for suspicious activities.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endParaRPr lang="en-US" sz="3800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183291" y="2029824"/>
            <a:ext cx="4488074" cy="4956610"/>
          </a:xfrm>
          <a:custGeom>
            <a:avLst/>
            <a:gdLst/>
            <a:ahLst/>
            <a:cxnLst/>
            <a:rect l="l" t="t" r="r" b="b"/>
            <a:pathLst>
              <a:path w="4488074" h="4956610">
                <a:moveTo>
                  <a:pt x="0" y="0"/>
                </a:moveTo>
                <a:lnTo>
                  <a:pt x="4488074" y="0"/>
                </a:lnTo>
                <a:lnTo>
                  <a:pt x="4488074" y="4956609"/>
                </a:lnTo>
                <a:lnTo>
                  <a:pt x="0" y="495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82481" y="645523"/>
            <a:ext cx="11376819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A09 - Security Logging and Monitoring Failures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6242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Security Logging and Monitoring Failures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Understand the significance of Logging &amp; Monitoring events.</a:t>
            </a:r>
          </a:p>
          <a:p>
            <a:pPr algn="just">
              <a:lnSpc>
                <a:spcPts val="5599"/>
              </a:lnSpc>
            </a:pPr>
            <a:endParaRPr lang="en-US" sz="3999" spc="3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Analyzing acquired Log files from a compromised web server. - OWASP Top 10: Security Logging &amp; Monitoring Failures.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2481" y="2767145"/>
            <a:ext cx="11722380" cy="628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Occurs when an application fetches a remote resource based on user input.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Attackers can make the server send requests to unintended locations.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u="none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Example:</a:t>
            </a: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 SSRF to access cloud metadata service (http://169.254.169.254).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Mitigation: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Validate and sanitize URLs.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Block internal IP ranges.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 dirty="0">
                <a:solidFill>
                  <a:srgbClr val="201F1F"/>
                </a:solidFill>
                <a:latin typeface="Muli"/>
                <a:ea typeface="Muli"/>
                <a:cs typeface="Muli"/>
                <a:sym typeface="Muli"/>
              </a:rPr>
              <a:t>Use allow-lists for acceptable destinations.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endParaRPr lang="en-US" sz="3800" dirty="0">
              <a:solidFill>
                <a:srgbClr val="201F1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23359" y="2659073"/>
            <a:ext cx="4702233" cy="4968855"/>
          </a:xfrm>
          <a:custGeom>
            <a:avLst/>
            <a:gdLst/>
            <a:ahLst/>
            <a:cxnLst/>
            <a:rect l="l" t="t" r="r" b="b"/>
            <a:pathLst>
              <a:path w="4702233" h="4968855">
                <a:moveTo>
                  <a:pt x="0" y="0"/>
                </a:moveTo>
                <a:lnTo>
                  <a:pt x="4702233" y="0"/>
                </a:lnTo>
                <a:lnTo>
                  <a:pt x="4702233" y="4968854"/>
                </a:lnTo>
                <a:lnTo>
                  <a:pt x="0" y="4968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82481" y="1475550"/>
            <a:ext cx="1137681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201F1F"/>
                </a:solidFill>
                <a:latin typeface="Muli Bold"/>
                <a:ea typeface="Muli Bold"/>
                <a:cs typeface="Muli Bold"/>
                <a:sym typeface="Muli Bold"/>
              </a:rPr>
              <a:t>A10 - Server-Side Request Forgery (SSRF)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6242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Demo: Server-Side Request Forgery (SSRF)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3037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u="sng" spc="3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Understand the impact of SSRF vulnerbilities</a:t>
            </a:r>
          </a:p>
          <a:p>
            <a:pPr algn="just">
              <a:lnSpc>
                <a:spcPts val="5599"/>
              </a:lnSpc>
            </a:pPr>
            <a:endParaRPr lang="en-US" sz="3999" spc="3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3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Detecting &amp; exploiting SSRF in a web application to access a restricted web page, and connect to our attacker kali machine on TryHackMe.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50765"/>
            <a:ext cx="16230600" cy="497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36" lvl="1" indent="-496568" algn="just">
              <a:lnSpc>
                <a:spcPts val="6439"/>
              </a:lnSpc>
              <a:buFont typeface="Arial"/>
              <a:buChar char="•"/>
            </a:pPr>
            <a:r>
              <a:rPr lang="en-US" sz="4599" b="1" spc="45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Validate inputs and encode outputs.</a:t>
            </a:r>
          </a:p>
          <a:p>
            <a:pPr marL="993136" lvl="1" indent="-496568" algn="just">
              <a:lnSpc>
                <a:spcPts val="6439"/>
              </a:lnSpc>
              <a:buFont typeface="Arial"/>
              <a:buChar char="•"/>
            </a:pPr>
            <a:r>
              <a:rPr lang="en-US" sz="4599" b="1" spc="45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Use HTTPS and strong encryption.</a:t>
            </a:r>
          </a:p>
          <a:p>
            <a:pPr marL="993136" lvl="1" indent="-496568" algn="just">
              <a:lnSpc>
                <a:spcPts val="6439"/>
              </a:lnSpc>
              <a:buFont typeface="Arial"/>
              <a:buChar char="•"/>
            </a:pPr>
            <a:r>
              <a:rPr lang="en-US" sz="4599" b="1" spc="45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Implement RBAC and least privilege.</a:t>
            </a:r>
          </a:p>
          <a:p>
            <a:pPr marL="993136" lvl="1" indent="-496568" algn="just">
              <a:lnSpc>
                <a:spcPts val="6439"/>
              </a:lnSpc>
              <a:buFont typeface="Arial"/>
              <a:buChar char="•"/>
            </a:pPr>
            <a:r>
              <a:rPr lang="en-US" sz="4599" b="1" spc="45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Regularly update and patch systems.</a:t>
            </a:r>
          </a:p>
          <a:p>
            <a:pPr marL="993136" lvl="1" indent="-496568" algn="just">
              <a:lnSpc>
                <a:spcPts val="6439"/>
              </a:lnSpc>
              <a:buFont typeface="Arial"/>
              <a:buChar char="•"/>
            </a:pPr>
            <a:r>
              <a:rPr lang="en-US" sz="4599" b="1" spc="45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Conduct security reviews and code audits.</a:t>
            </a:r>
          </a:p>
          <a:p>
            <a:pPr marL="993136" lvl="1" indent="-496568" algn="just">
              <a:lnSpc>
                <a:spcPts val="6439"/>
              </a:lnSpc>
              <a:buFont typeface="Arial"/>
              <a:buChar char="•"/>
            </a:pPr>
            <a:r>
              <a:rPr lang="en-US" sz="4599" b="1" spc="45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Follow a secure SDLC.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35672"/>
            <a:ext cx="16230600" cy="97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49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Secure Coding &amp; Prevention Practices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51554" y="4329728"/>
            <a:ext cx="7384891" cy="106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Questions &amp; Answers</a:t>
            </a:r>
          </a:p>
        </p:txBody>
      </p:sp>
      <p:sp>
        <p:nvSpPr>
          <p:cNvPr id="3" name="Freeform 3"/>
          <p:cNvSpPr/>
          <p:nvPr/>
        </p:nvSpPr>
        <p:spPr>
          <a:xfrm>
            <a:off x="8248303" y="9258300"/>
            <a:ext cx="1791395" cy="356903"/>
          </a:xfrm>
          <a:custGeom>
            <a:avLst/>
            <a:gdLst/>
            <a:ahLst/>
            <a:cxnLst/>
            <a:rect l="l" t="t" r="r" b="b"/>
            <a:pathLst>
              <a:path w="1791395" h="356903">
                <a:moveTo>
                  <a:pt x="0" y="0"/>
                </a:moveTo>
                <a:lnTo>
                  <a:pt x="1791394" y="0"/>
                </a:lnTo>
                <a:lnTo>
                  <a:pt x="1791394" y="356903"/>
                </a:lnTo>
                <a:lnTo>
                  <a:pt x="0" y="356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69" r="-876" b="-1765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1697</Words>
  <Application>Microsoft Macintosh PowerPoint</Application>
  <PresentationFormat>Custom</PresentationFormat>
  <Paragraphs>222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The Seasons Bold</vt:lpstr>
      <vt:lpstr>Arial</vt:lpstr>
      <vt:lpstr>Muli Bold Italics</vt:lpstr>
      <vt:lpstr>Calibri</vt:lpstr>
      <vt:lpstr>Muli</vt:lpstr>
      <vt:lpstr>Muli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DANIEL - HACKTALES PRESENTATION WEEK 8</dc:title>
  <cp:lastModifiedBy>Etim, Ubongabasi Ebong (Student)</cp:lastModifiedBy>
  <cp:revision>2</cp:revision>
  <dcterms:created xsi:type="dcterms:W3CDTF">2006-08-16T00:00:00Z</dcterms:created>
  <dcterms:modified xsi:type="dcterms:W3CDTF">2025-09-09T08:57:06Z</dcterms:modified>
  <dc:identifier>DAGmGQuh-IU</dc:identifier>
</cp:coreProperties>
</file>